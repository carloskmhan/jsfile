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1F37"/>
                </a:solidFill>
                <a:latin typeface="Aptos Display"/>
              </a:rPr>
              <a:t>Deterministic Conversational Analytics in the LLM 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32104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B6979"/>
                </a:solidFill>
                <a:latin typeface="Aptos"/>
              </a:rPr>
              <a:t>Major banks still combine natural-language interfaces with controlled responses, rules and deterministic banking workflows.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261872"/>
            <a:ext cx="3657600" cy="56692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2C5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64008"/>
          <a:lstStyle/>
          <a:p>
            <a:pPr algn="ctr"/>
            <a:r>
              <a:rPr b="1" sz="1100">
                <a:solidFill>
                  <a:srgbClr val="2C5FA6"/>
                </a:solidFill>
              </a:rPr>
              <a:t>LLM / GenAI  </a:t>
            </a:r>
            <a:r>
              <a:rPr sz="900">
                <a:solidFill>
                  <a:srgbClr val="25303F"/>
                </a:solidFill>
              </a:rPr>
              <a:t>flexibility • open-ended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261872"/>
            <a:ext cx="3657600" cy="56692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2A9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64008"/>
          <a:lstStyle/>
          <a:p>
            <a:pPr algn="ctr"/>
            <a:r>
              <a:rPr b="1" sz="1100">
                <a:solidFill>
                  <a:srgbClr val="2A97BC"/>
                </a:solidFill>
              </a:rPr>
              <a:t>Hybrid AI  </a:t>
            </a:r>
            <a:r>
              <a:rPr sz="900">
                <a:solidFill>
                  <a:srgbClr val="25303F"/>
                </a:solidFill>
              </a:rPr>
              <a:t>natural language + controlled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1583" y="1261872"/>
            <a:ext cx="3657600" cy="56692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278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tIns="64008"/>
          <a:lstStyle/>
          <a:p>
            <a:pPr algn="ctr"/>
            <a:r>
              <a:rPr b="1" sz="1100">
                <a:solidFill>
                  <a:srgbClr val="278B80"/>
                </a:solidFill>
              </a:rPr>
              <a:t>Deterministic / Heuristic  </a:t>
            </a:r>
            <a:r>
              <a:rPr sz="900">
                <a:solidFill>
                  <a:srgbClr val="25303F"/>
                </a:solidFill>
              </a:rPr>
              <a:t>control • auditability • reproducibility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2029968"/>
            <a:ext cx="2057400" cy="393192"/>
          </a:xfrm>
          <a:prstGeom prst="rect">
            <a:avLst/>
          </a:prstGeom>
          <a:solidFill>
            <a:srgbClr val="11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Institution /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587752" y="2029968"/>
            <a:ext cx="1965960" cy="393192"/>
          </a:xfrm>
          <a:prstGeom prst="rect">
            <a:avLst/>
          </a:prstGeom>
          <a:solidFill>
            <a:srgbClr val="11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Production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53712" y="2029968"/>
            <a:ext cx="3794760" cy="393192"/>
          </a:xfrm>
          <a:prstGeom prst="rect">
            <a:avLst/>
          </a:prstGeom>
          <a:solidFill>
            <a:srgbClr val="11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Architecture / control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48472" y="2029968"/>
            <a:ext cx="3246120" cy="393192"/>
          </a:xfrm>
          <a:prstGeom prst="rect">
            <a:avLst/>
          </a:prstGeom>
          <a:solidFill>
            <a:srgbClr val="111F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Why it matters for RWA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423160"/>
            <a:ext cx="205740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910" b="1">
                <a:solidFill>
                  <a:srgbClr val="111F37"/>
                </a:solidFill>
                <a:latin typeface="Aptos"/>
              </a:rPr>
              <a:t>Bank of America</a:t>
            </a:r>
          </a:p>
          <a:p>
            <a:pPr>
              <a:spcAft>
                <a:spcPts val="0"/>
              </a:spcAft>
            </a:pPr>
            <a:r>
              <a:rPr sz="910" b="1">
                <a:solidFill>
                  <a:srgbClr val="111F37"/>
                </a:solidFill>
                <a:latin typeface="Aptos"/>
              </a:rPr>
              <a:t>Erica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7752" y="2423160"/>
            <a:ext cx="196596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910">
                <a:solidFill>
                  <a:srgbClr val="25303F"/>
                </a:solidFill>
                <a:latin typeface="Aptos"/>
              </a:rPr>
              <a:t>Retail banking assistant</a:t>
            </a:r>
          </a:p>
          <a:p>
            <a:pPr>
              <a:spcAft>
                <a:spcPts val="0"/>
              </a:spcAft>
            </a:pPr>
            <a:r>
              <a:rPr sz="910">
                <a:solidFill>
                  <a:srgbClr val="25303F"/>
                </a:solidFill>
                <a:latin typeface="Aptos"/>
              </a:rPr>
              <a:t>billions of interactions at scale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53712" y="2423160"/>
            <a:ext cx="379476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890">
                <a:solidFill>
                  <a:srgbClr val="25303F"/>
                </a:solidFill>
                <a:latin typeface="Aptos"/>
              </a:rPr>
              <a:t>NLP/AI intent → pre-defined responses;</a:t>
            </a:r>
          </a:p>
          <a:p>
            <a:pPr>
              <a:spcAft>
                <a:spcPts val="0"/>
              </a:spcAft>
            </a:pPr>
            <a:r>
              <a:rPr sz="890">
                <a:solidFill>
                  <a:srgbClr val="25303F"/>
                </a:solidFill>
                <a:latin typeface="Aptos"/>
              </a:rPr>
              <a:t>BofA states no GenAI/LLM-generated customer answers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48472" y="2423160"/>
            <a:ext cx="324612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910">
                <a:solidFill>
                  <a:srgbClr val="25303F"/>
                </a:solidFill>
                <a:latin typeface="Aptos"/>
              </a:rPr>
              <a:t>Strong benchmark for large-scale</a:t>
            </a:r>
          </a:p>
          <a:p>
            <a:pPr>
              <a:spcAft>
                <a:spcPts val="0"/>
              </a:spcAft>
            </a:pPr>
            <a:r>
              <a:rPr sz="910">
                <a:solidFill>
                  <a:srgbClr val="25303F"/>
                </a:solidFill>
                <a:latin typeface="Aptos"/>
              </a:rPr>
              <a:t>non-generative conversational banking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3154680"/>
            <a:ext cx="2057400" cy="731520"/>
          </a:xfrm>
          <a:prstGeom prst="rect">
            <a:avLst/>
          </a:prstGeom>
          <a:solidFill>
            <a:srgbClr val="F4F7FA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910" b="1">
                <a:solidFill>
                  <a:srgbClr val="111F37"/>
                </a:solidFill>
                <a:latin typeface="Aptos"/>
              </a:rPr>
              <a:t>BofA CashPro Chat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87752" y="3154680"/>
            <a:ext cx="1965960" cy="731520"/>
          </a:xfrm>
          <a:prstGeom prst="rect">
            <a:avLst/>
          </a:prstGeom>
          <a:solidFill>
            <a:srgbClr val="F4F7FA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910">
                <a:solidFill>
                  <a:srgbClr val="25303F"/>
                </a:solidFill>
                <a:latin typeface="Aptos"/>
              </a:rPr>
              <a:t>Corporate / commercial banking</a:t>
            </a:r>
          </a:p>
          <a:p>
            <a:pPr>
              <a:spcAft>
                <a:spcPts val="0"/>
              </a:spcAft>
            </a:pPr>
            <a:r>
              <a:rPr sz="910">
                <a:solidFill>
                  <a:srgbClr val="25303F"/>
                </a:solidFill>
                <a:latin typeface="Aptos"/>
              </a:rPr>
              <a:t>account &amp; transaction servicing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53712" y="3154680"/>
            <a:ext cx="3794760" cy="731520"/>
          </a:xfrm>
          <a:prstGeom prst="rect">
            <a:avLst/>
          </a:prstGeom>
          <a:solidFill>
            <a:srgbClr val="F4F7FA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890">
                <a:solidFill>
                  <a:srgbClr val="25303F"/>
                </a:solidFill>
                <a:latin typeface="Aptos"/>
              </a:rPr>
              <a:t>Erica technology + controlled</a:t>
            </a:r>
          </a:p>
          <a:p>
            <a:pPr>
              <a:spcAft>
                <a:spcPts val="0"/>
              </a:spcAft>
            </a:pPr>
            <a:r>
              <a:rPr sz="890">
                <a:solidFill>
                  <a:srgbClr val="25303F"/>
                </a:solidFill>
                <a:latin typeface="Aptos"/>
              </a:rPr>
              <a:t>banking workflows/actions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48472" y="3154680"/>
            <a:ext cx="3246120" cy="731520"/>
          </a:xfrm>
          <a:prstGeom prst="rect">
            <a:avLst/>
          </a:prstGeom>
          <a:solidFill>
            <a:srgbClr val="F4F7FA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910">
                <a:solidFill>
                  <a:srgbClr val="25303F"/>
                </a:solidFill>
                <a:latin typeface="Aptos"/>
              </a:rPr>
              <a:t>Closest major-bank analogue on</a:t>
            </a:r>
          </a:p>
          <a:p>
            <a:pPr>
              <a:spcAft>
                <a:spcPts val="0"/>
              </a:spcAft>
            </a:pPr>
            <a:r>
              <a:rPr sz="910">
                <a:solidFill>
                  <a:srgbClr val="25303F"/>
                </a:solidFill>
                <a:latin typeface="Aptos"/>
              </a:rPr>
              <a:t>corporate-banking side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3886200"/>
            <a:ext cx="205740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910" b="1">
                <a:solidFill>
                  <a:srgbClr val="111F37"/>
                </a:solidFill>
                <a:latin typeface="Aptos"/>
              </a:rPr>
              <a:t>U.S. Bank</a:t>
            </a:r>
          </a:p>
          <a:p>
            <a:pPr>
              <a:spcAft>
                <a:spcPts val="0"/>
              </a:spcAft>
            </a:pPr>
            <a:r>
              <a:rPr sz="910" b="1">
                <a:solidFill>
                  <a:srgbClr val="111F37"/>
                </a:solidFill>
                <a:latin typeface="Aptos"/>
              </a:rPr>
              <a:t>Smart Assistant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87752" y="3886200"/>
            <a:ext cx="196596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910">
                <a:solidFill>
                  <a:srgbClr val="25303F"/>
                </a:solidFill>
                <a:latin typeface="Aptos"/>
              </a:rPr>
              <a:t>Transfers, payments, disputes,</a:t>
            </a:r>
          </a:p>
          <a:p>
            <a:pPr>
              <a:spcAft>
                <a:spcPts val="0"/>
              </a:spcAft>
            </a:pPr>
            <a:r>
              <a:rPr sz="910">
                <a:solidFill>
                  <a:srgbClr val="25303F"/>
                </a:solidFill>
                <a:latin typeface="Aptos"/>
              </a:rPr>
              <a:t>account tasks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53712" y="3886200"/>
            <a:ext cx="379476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890">
                <a:solidFill>
                  <a:srgbClr val="25303F"/>
                </a:solidFill>
                <a:latin typeface="Aptos"/>
              </a:rPr>
              <a:t>CFPB describes simple</a:t>
            </a:r>
          </a:p>
          <a:p>
            <a:pPr>
              <a:spcAft>
                <a:spcPts val="0"/>
              </a:spcAft>
            </a:pPr>
            <a:r>
              <a:rPr sz="890">
                <a:solidFill>
                  <a:srgbClr val="25303F"/>
                </a:solidFill>
                <a:latin typeface="Aptos"/>
              </a:rPr>
              <a:t>rule-based functionality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48472" y="3886200"/>
            <a:ext cx="324612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910">
                <a:solidFill>
                  <a:srgbClr val="25303F"/>
                </a:solidFill>
                <a:latin typeface="Aptos"/>
              </a:rPr>
              <a:t>Direct production evidence that</a:t>
            </a:r>
          </a:p>
          <a:p>
            <a:pPr>
              <a:spcAft>
                <a:spcPts val="0"/>
              </a:spcAft>
            </a:pPr>
            <a:r>
              <a:rPr sz="910">
                <a:solidFill>
                  <a:srgbClr val="25303F"/>
                </a:solidFill>
                <a:latin typeface="Aptos"/>
              </a:rPr>
              <a:t>rules remain useful in banking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617720"/>
            <a:ext cx="2057400" cy="731520"/>
          </a:xfrm>
          <a:prstGeom prst="rect">
            <a:avLst/>
          </a:prstGeom>
          <a:solidFill>
            <a:srgbClr val="F4F7FA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910" b="1">
                <a:solidFill>
                  <a:srgbClr val="111F37"/>
                </a:solidFill>
                <a:latin typeface="Aptos"/>
              </a:rPr>
              <a:t>Capital One Eno / Wells Fargo Fargo /</a:t>
            </a:r>
          </a:p>
          <a:p>
            <a:pPr>
              <a:spcAft>
                <a:spcPts val="0"/>
              </a:spcAft>
            </a:pPr>
            <a:r>
              <a:rPr sz="910" b="1">
                <a:solidFill>
                  <a:srgbClr val="111F37"/>
                </a:solidFill>
                <a:latin typeface="Aptos"/>
              </a:rPr>
              <a:t>JPMorgan &amp; TD conversational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87752" y="4617720"/>
            <a:ext cx="1965960" cy="731520"/>
          </a:xfrm>
          <a:prstGeom prst="rect">
            <a:avLst/>
          </a:prstGeom>
          <a:solidFill>
            <a:srgbClr val="F4F7FA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910">
                <a:solidFill>
                  <a:srgbClr val="25303F"/>
                </a:solidFill>
                <a:latin typeface="Aptos"/>
              </a:rPr>
              <a:t>Large-scale digital banking</a:t>
            </a:r>
          </a:p>
          <a:p>
            <a:pPr>
              <a:spcAft>
                <a:spcPts val="0"/>
              </a:spcAft>
            </a:pPr>
            <a:r>
              <a:rPr sz="910">
                <a:solidFill>
                  <a:srgbClr val="25303F"/>
                </a:solidFill>
                <a:latin typeface="Aptos"/>
              </a:rPr>
              <a:t>assistants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3712" y="4617720"/>
            <a:ext cx="3794760" cy="731520"/>
          </a:xfrm>
          <a:prstGeom prst="rect">
            <a:avLst/>
          </a:prstGeom>
          <a:solidFill>
            <a:srgbClr val="F4F7FA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890">
                <a:solidFill>
                  <a:srgbClr val="25303F"/>
                </a:solidFill>
                <a:latin typeface="Aptos"/>
              </a:rPr>
              <a:t>NLP/ML/AI + constrained</a:t>
            </a:r>
          </a:p>
          <a:p>
            <a:pPr>
              <a:spcAft>
                <a:spcPts val="0"/>
              </a:spcAft>
            </a:pPr>
            <a:r>
              <a:rPr sz="890">
                <a:solidFill>
                  <a:srgbClr val="25303F"/>
                </a:solidFill>
                <a:latin typeface="Aptos"/>
              </a:rPr>
              <a:t>banking actions/workflows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48472" y="4617720"/>
            <a:ext cx="3246120" cy="731520"/>
          </a:xfrm>
          <a:prstGeom prst="rect">
            <a:avLst/>
          </a:prstGeom>
          <a:solidFill>
            <a:srgbClr val="F4F7FA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910">
                <a:solidFill>
                  <a:srgbClr val="25303F"/>
                </a:solidFill>
                <a:latin typeface="Aptos"/>
              </a:rPr>
              <a:t>Shows the broader hybrid spectrum;</a:t>
            </a:r>
          </a:p>
          <a:p>
            <a:pPr>
              <a:spcAft>
                <a:spcPts val="0"/>
              </a:spcAft>
            </a:pPr>
            <a:r>
              <a:rPr sz="910">
                <a:solidFill>
                  <a:srgbClr val="25303F"/>
                </a:solidFill>
                <a:latin typeface="Aptos"/>
              </a:rPr>
              <a:t>not pure heuristic engines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5349240"/>
            <a:ext cx="2057400" cy="822960"/>
          </a:xfrm>
          <a:prstGeom prst="rect">
            <a:avLst/>
          </a:prstGeom>
          <a:solidFill>
            <a:srgbClr val="EBF6F4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910" b="1">
                <a:solidFill>
                  <a:srgbClr val="278B80"/>
                </a:solidFill>
                <a:latin typeface="Aptos"/>
              </a:rPr>
              <a:t>RWA Intelligence</a:t>
            </a:r>
          </a:p>
          <a:p>
            <a:pPr>
              <a:spcAft>
                <a:spcPts val="0"/>
              </a:spcAft>
            </a:pPr>
            <a:r>
              <a:rPr sz="910" b="1">
                <a:solidFill>
                  <a:srgbClr val="278B80"/>
                </a:solidFill>
                <a:latin typeface="Aptos"/>
              </a:rPr>
              <a:t>(current project)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87752" y="5349240"/>
            <a:ext cx="1965960" cy="822960"/>
          </a:xfrm>
          <a:prstGeom prst="rect">
            <a:avLst/>
          </a:prstGeom>
          <a:solidFill>
            <a:srgbClr val="EBF6F4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910">
                <a:solidFill>
                  <a:srgbClr val="25303F"/>
                </a:solidFill>
                <a:latin typeface="Aptos"/>
              </a:rPr>
              <a:t>CIB portfolio / RWA analytics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53712" y="5349240"/>
            <a:ext cx="3794760" cy="822960"/>
          </a:xfrm>
          <a:prstGeom prst="rect">
            <a:avLst/>
          </a:prstGeom>
          <a:solidFill>
            <a:srgbClr val="EBF6F4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890">
                <a:solidFill>
                  <a:srgbClr val="25303F"/>
                </a:solidFill>
                <a:latin typeface="Aptos"/>
              </a:rPr>
              <a:t>Heuristic semantic parser → validation →</a:t>
            </a:r>
          </a:p>
          <a:p>
            <a:pPr>
              <a:spcAft>
                <a:spcPts val="0"/>
              </a:spcAft>
            </a:pPr>
            <a:r>
              <a:rPr sz="890">
                <a:solidFill>
                  <a:srgbClr val="25303F"/>
                </a:solidFill>
                <a:latin typeface="Aptos"/>
              </a:rPr>
              <a:t>deterministic Tableau query/calculation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48472" y="5349240"/>
            <a:ext cx="3246120" cy="822960"/>
          </a:xfrm>
          <a:prstGeom prst="rect">
            <a:avLst/>
          </a:prstGeom>
          <a:solidFill>
            <a:srgbClr val="EBF6F4"/>
          </a:solidFill>
          <a:ln w="8890"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73152" tIns="36576" bIns="27432"/>
          <a:lstStyle/>
          <a:p>
            <a:pPr algn="ctr">
              <a:spcAft>
                <a:spcPts val="0"/>
              </a:spcAft>
            </a:pPr>
            <a:r>
              <a:rPr sz="910">
                <a:solidFill>
                  <a:srgbClr val="25303F"/>
                </a:solidFill>
                <a:latin typeface="Aptos"/>
              </a:rPr>
              <a:t>Purpose-built for accuracy, control,</a:t>
            </a:r>
          </a:p>
          <a:p>
            <a:pPr>
              <a:spcAft>
                <a:spcPts val="0"/>
              </a:spcAft>
            </a:pPr>
            <a:r>
              <a:rPr sz="910">
                <a:solidFill>
                  <a:srgbClr val="25303F"/>
                </a:solidFill>
                <a:latin typeface="Aptos"/>
              </a:rPr>
              <a:t>auditability and reproducibility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6035040"/>
            <a:ext cx="11064240" cy="512064"/>
          </a:xfrm>
          <a:prstGeom prst="roundRect">
            <a:avLst/>
          </a:prstGeom>
          <a:solidFill>
            <a:srgbClr val="11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b="1" sz="1050">
                <a:solidFill>
                  <a:srgbClr val="63CDBE"/>
                </a:solidFill>
              </a:rPr>
              <a:t>KEY TAKEAWAY   </a:t>
            </a:r>
            <a:r>
              <a:rPr sz="1050">
                <a:solidFill>
                  <a:srgbClr val="FFFFFF"/>
                </a:solidFill>
              </a:rPr>
              <a:t>LLMs maximize flexibility; deterministic engines maximize control and reproducibility. Financial institutions use both depending on the task.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74536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80">
                <a:solidFill>
                  <a:srgbClr val="5B6979"/>
                </a:solidFill>
                <a:latin typeface="Aptos"/>
              </a:rPr>
              <a:t>Sources: Bank of America public disclosures; U.S. CFPB “Chatbots in consumer finance”; Wells Fargo / Capital One public materials. Architecture labels are intentionally conservative where internal implementations are not public.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