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19456"/>
            <a:ext cx="11155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71E2C"/>
                </a:solidFill>
                <a:latin typeface="Aptos"/>
              </a:rPr>
              <a:t>RWA Q&amp;A: Why a Heuristic Engine Can Be More Economic Than an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576072"/>
            <a:ext cx="10972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16C7E"/>
                </a:solidFill>
                <a:latin typeface="Aptos"/>
              </a:rPr>
              <a:t>One-slide infographic for a bounded, deterministic domain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94760" y="868680"/>
            <a:ext cx="4572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977639" y="1005840"/>
            <a:ext cx="310896" cy="310896"/>
          </a:xfrm>
          <a:prstGeom prst="ellipse">
            <a:avLst/>
          </a:prstGeom>
          <a:solidFill>
            <a:srgbClr val="E8F1FF"/>
          </a:solidFill>
          <a:ln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77639" y="1005840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768E8"/>
                </a:solidFill>
                <a:latin typeface="Aptos"/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7408" y="941832"/>
            <a:ext cx="37033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616C7E"/>
                </a:solidFill>
                <a:latin typeface="Aptos"/>
              </a:rPr>
              <a:t>Same business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7408" y="1106424"/>
            <a:ext cx="3703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171E2C"/>
                </a:solidFill>
                <a:latin typeface="Aptos"/>
              </a:rPr>
              <a:t>“Show top 10 RWA increases and main drivers”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65379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938528"/>
            <a:ext cx="1508760" cy="274320"/>
          </a:xfrm>
          <a:prstGeom prst="roundRect">
            <a:avLst/>
          </a:prstGeom>
          <a:solidFill>
            <a:srgbClr val="E5F7F0"/>
          </a:solidFill>
          <a:ln w="12700">
            <a:solidFill>
              <a:srgbClr val="E5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38528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169168"/>
                </a:solidFill>
                <a:latin typeface="Aptos"/>
              </a:rPr>
              <a:t>PRIMARY 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1901952"/>
            <a:ext cx="42976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768E8"/>
                </a:solidFill>
                <a:latin typeface="Aptos"/>
              </a:rPr>
              <a:t>Heuristic / Rule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148840"/>
            <a:ext cx="40233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616C7E"/>
                </a:solidFill>
                <a:latin typeface="Aptos"/>
              </a:rPr>
              <a:t>Short, deterministic execution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87168"/>
            <a:ext cx="1828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616C7E"/>
                </a:solidFill>
                <a:latin typeface="Aptos"/>
              </a:rPr>
              <a:t>HOW IT RUNS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" y="2697480"/>
            <a:ext cx="914400" cy="114300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8136" y="2816352"/>
            <a:ext cx="347472" cy="347472"/>
          </a:xfrm>
          <a:prstGeom prst="ellipse">
            <a:avLst/>
          </a:prstGeom>
          <a:solidFill>
            <a:srgbClr val="2768E8"/>
          </a:solidFill>
          <a:ln>
            <a:solidFill>
              <a:srgbClr val="2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" y="2816352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3200400"/>
            <a:ext cx="768096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2768E8"/>
                </a:solidFill>
                <a:latin typeface="Aptos"/>
              </a:rPr>
              <a:t>Intent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3383280"/>
            <a:ext cx="768096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171E2C"/>
                </a:solidFill>
                <a:latin typeface="Aptos"/>
              </a:rPr>
              <a:t>detect Top 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719072" y="3273552"/>
            <a:ext cx="329184" cy="0"/>
          </a:xfrm>
          <a:prstGeom prst="line">
            <a:avLst/>
          </a:prstGeom>
          <a:ln w="25400">
            <a:solidFill>
              <a:srgbClr val="276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048256" y="2697480"/>
            <a:ext cx="914400" cy="114300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331720" y="2816352"/>
            <a:ext cx="347472" cy="347472"/>
          </a:xfrm>
          <a:prstGeom prst="ellipse">
            <a:avLst/>
          </a:prstGeom>
          <a:solidFill>
            <a:srgbClr val="2768E8"/>
          </a:solidFill>
          <a:ln>
            <a:solidFill>
              <a:srgbClr val="2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20" y="2816352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21408" y="3200400"/>
            <a:ext cx="768096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2768E8"/>
                </a:solidFill>
                <a:latin typeface="Aptos"/>
              </a:rPr>
              <a:t>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3383280"/>
            <a:ext cx="768096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171E2C"/>
                </a:solidFill>
                <a:latin typeface="Aptos"/>
              </a:rPr>
              <a:t>RWA + drivers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962656" y="3273552"/>
            <a:ext cx="329184" cy="0"/>
          </a:xfrm>
          <a:prstGeom prst="line">
            <a:avLst/>
          </a:prstGeom>
          <a:ln w="25400">
            <a:solidFill>
              <a:srgbClr val="276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291840" y="2697480"/>
            <a:ext cx="914400" cy="114300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575304" y="2816352"/>
            <a:ext cx="347472" cy="347472"/>
          </a:xfrm>
          <a:prstGeom prst="ellipse">
            <a:avLst/>
          </a:prstGeom>
          <a:solidFill>
            <a:srgbClr val="2768E8"/>
          </a:solidFill>
          <a:ln>
            <a:solidFill>
              <a:srgbClr val="2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75304" y="2816352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64992" y="3200400"/>
            <a:ext cx="768096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2768E8"/>
                </a:solidFill>
                <a:latin typeface="Aptos"/>
              </a:rPr>
              <a:t>Execute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64992" y="3383280"/>
            <a:ext cx="768096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171E2C"/>
                </a:solidFill>
                <a:latin typeface="Aptos"/>
              </a:rPr>
              <a:t>sort / filter / calc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206240" y="3273552"/>
            <a:ext cx="329184" cy="0"/>
          </a:xfrm>
          <a:prstGeom prst="line">
            <a:avLst/>
          </a:prstGeom>
          <a:ln w="25400">
            <a:solidFill>
              <a:srgbClr val="276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535424" y="2697480"/>
            <a:ext cx="914400" cy="114300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18888" y="2816352"/>
            <a:ext cx="347472" cy="347472"/>
          </a:xfrm>
          <a:prstGeom prst="ellipse">
            <a:avLst/>
          </a:prstGeom>
          <a:solidFill>
            <a:srgbClr val="2768E8"/>
          </a:solidFill>
          <a:ln>
            <a:solidFill>
              <a:srgbClr val="2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18888" y="2816352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08576" y="3200400"/>
            <a:ext cx="768096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2768E8"/>
                </a:solidFill>
                <a:latin typeface="Aptos"/>
              </a:rPr>
              <a:t>Validate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08576" y="3383280"/>
            <a:ext cx="768096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171E2C"/>
                </a:solidFill>
                <a:latin typeface="Aptos"/>
              </a:rPr>
              <a:t>deterministic output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449824" y="3273552"/>
            <a:ext cx="329184" cy="0"/>
          </a:xfrm>
          <a:prstGeom prst="line">
            <a:avLst/>
          </a:prstGeom>
          <a:ln w="25400">
            <a:solidFill>
              <a:srgbClr val="276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779008" y="2697480"/>
            <a:ext cx="914400" cy="114300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62472" y="2816352"/>
            <a:ext cx="347472" cy="347472"/>
          </a:xfrm>
          <a:prstGeom prst="ellipse">
            <a:avLst/>
          </a:prstGeom>
          <a:solidFill>
            <a:srgbClr val="2768E8"/>
          </a:solidFill>
          <a:ln>
            <a:solidFill>
              <a:srgbClr val="2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62472" y="2816352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0" y="3200400"/>
            <a:ext cx="768096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2768E8"/>
                </a:solidFill>
                <a:latin typeface="Aptos"/>
              </a:rPr>
              <a:t>Return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3383280"/>
            <a:ext cx="768096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171E2C"/>
                </a:solidFill>
                <a:latin typeface="Aptos"/>
              </a:rPr>
              <a:t>traceable answer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" y="4160520"/>
            <a:ext cx="5943600" cy="365760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EA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4206240"/>
            <a:ext cx="557784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71E2C"/>
                </a:solidFill>
                <a:latin typeface="Aptos"/>
              </a:rPr>
              <a:t>WHERE HEURISTIC LEADS IN A BOUNDED RWA DOMAIN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2" y="4663440"/>
            <a:ext cx="107899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14400" y="4809744"/>
            <a:ext cx="347472" cy="347472"/>
          </a:xfrm>
          <a:prstGeom prst="ellipse">
            <a:avLst/>
          </a:prstGeom>
          <a:solidFill>
            <a:srgbClr val="E5F7F0"/>
          </a:solidFill>
          <a:ln>
            <a:solidFill>
              <a:srgbClr val="E5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4809744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69168"/>
                </a:solidFill>
                <a:latin typeface="Aptos"/>
              </a:rPr>
              <a:t>$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16736" y="4754879"/>
            <a:ext cx="4389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169168"/>
                </a:solidFill>
                <a:latin typeface="Aptos"/>
              </a:rPr>
              <a:t>Lower Cost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" y="5138927"/>
            <a:ext cx="804671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171E2C"/>
                </a:solidFill>
                <a:latin typeface="Aptos"/>
              </a:rPr>
              <a:t>No per-query
model inference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011680" y="4663440"/>
            <a:ext cx="107899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121408" y="4809744"/>
            <a:ext cx="347472" cy="347472"/>
          </a:xfrm>
          <a:prstGeom prst="ellipse">
            <a:avLst/>
          </a:prstGeom>
          <a:solidFill>
            <a:srgbClr val="E8F1FF"/>
          </a:solidFill>
          <a:ln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121408" y="4809744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768E8"/>
                </a:solidFill>
                <a:latin typeface="Aptos"/>
              </a:rPr>
              <a:t>⚡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23744" y="4754879"/>
            <a:ext cx="4389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2768E8"/>
                </a:solidFill>
                <a:latin typeface="Aptos"/>
              </a:rPr>
              <a:t>Faster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57984" y="5138927"/>
            <a:ext cx="804671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171E2C"/>
                </a:solidFill>
                <a:latin typeface="Aptos"/>
              </a:rPr>
              <a:t>No token
decoding path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218688" y="4663440"/>
            <a:ext cx="107899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328416" y="4809744"/>
            <a:ext cx="347472" cy="347472"/>
          </a:xfrm>
          <a:prstGeom prst="ellipse">
            <a:avLst/>
          </a:prstGeom>
          <a:solidFill>
            <a:srgbClr val="FDF3E3"/>
          </a:solidFill>
          <a:ln>
            <a:solidFill>
              <a:srgbClr val="FDF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28416" y="4809744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D3821F"/>
                </a:solidFill>
                <a:latin typeface="Aptos"/>
              </a:rPr>
              <a:t>=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30752" y="4754879"/>
            <a:ext cx="4389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D3821F"/>
                </a:solidFill>
                <a:latin typeface="Aptos"/>
              </a:rPr>
              <a:t>Consistent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64992" y="5138927"/>
            <a:ext cx="804671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171E2C"/>
                </a:solidFill>
                <a:latin typeface="Aptos"/>
              </a:rPr>
              <a:t>Same input
→ same logic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25696" y="4663440"/>
            <a:ext cx="107899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535424" y="4809744"/>
            <a:ext cx="347472" cy="347472"/>
          </a:xfrm>
          <a:prstGeom prst="ellipse">
            <a:avLst/>
          </a:prstGeom>
          <a:solidFill>
            <a:srgbClr val="E5F7F0"/>
          </a:solidFill>
          <a:ln>
            <a:solidFill>
              <a:srgbClr val="E5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35424" y="4809744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69168"/>
                </a:solidFill>
                <a:latin typeface="Aptos"/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37760" y="4754879"/>
            <a:ext cx="4389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169168"/>
                </a:solidFill>
                <a:latin typeface="Aptos"/>
              </a:rPr>
              <a:t>Auditable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5138927"/>
            <a:ext cx="804671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171E2C"/>
                </a:solidFill>
                <a:latin typeface="Aptos"/>
              </a:rPr>
              <a:t>Rule → function
→ result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632704" y="4663440"/>
            <a:ext cx="107899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742432" y="4809744"/>
            <a:ext cx="347472" cy="347472"/>
          </a:xfrm>
          <a:prstGeom prst="ellipse">
            <a:avLst/>
          </a:prstGeom>
          <a:solidFill>
            <a:srgbClr val="E8F1FF"/>
          </a:solidFill>
          <a:ln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742432" y="4809744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768E8"/>
                </a:solidFill>
                <a:latin typeface="Aptos"/>
              </a:rPr>
              <a:t>#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44768" y="4754879"/>
            <a:ext cx="4389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2768E8"/>
                </a:solidFill>
                <a:latin typeface="Aptos"/>
              </a:rPr>
              <a:t>Domain Fit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79008" y="5138927"/>
            <a:ext cx="804671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171E2C"/>
                </a:solidFill>
                <a:latin typeface="Aptos"/>
              </a:rPr>
              <a:t>Optimized for
known RWA intents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242048" y="1783080"/>
            <a:ext cx="446227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7452360" y="1938528"/>
            <a:ext cx="1280160" cy="274320"/>
          </a:xfrm>
          <a:prstGeom prst="roundRect">
            <a:avLst/>
          </a:prstGeom>
          <a:solidFill>
            <a:srgbClr val="F1ECFF"/>
          </a:solidFill>
          <a:ln w="12700">
            <a:solidFill>
              <a:srgbClr val="F1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52360" y="1938528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704CD7"/>
                </a:solidFill>
                <a:latin typeface="Aptos"/>
              </a:rPr>
              <a:t>USE SELECTIVELY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87968" y="1901952"/>
            <a:ext cx="24688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704CD7"/>
                </a:solidFill>
                <a:latin typeface="Aptos"/>
              </a:rPr>
              <a:t>General LLM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87968" y="2148840"/>
            <a:ext cx="24688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616C7E"/>
                </a:solidFill>
                <a:latin typeface="Aptos"/>
              </a:rPr>
              <a:t>Flexible, but heavier path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98079" y="2487168"/>
            <a:ext cx="1828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616C7E"/>
                </a:solidFill>
                <a:latin typeface="Aptos"/>
              </a:rPr>
              <a:t>HOW IT RUNS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498079" y="2724912"/>
            <a:ext cx="658368" cy="841248"/>
          </a:xfrm>
          <a:prstGeom prst="roundRect">
            <a:avLst/>
          </a:prstGeom>
          <a:solidFill>
            <a:srgbClr val="F1ECFF"/>
          </a:solidFill>
          <a:ln w="12700">
            <a:solidFill>
              <a:srgbClr val="DCD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662671" y="2834640"/>
            <a:ext cx="329184" cy="329184"/>
          </a:xfrm>
          <a:prstGeom prst="ellipse">
            <a:avLst/>
          </a:prstGeom>
          <a:solidFill>
            <a:srgbClr val="704CD7"/>
          </a:solidFill>
          <a:ln>
            <a:solidFill>
              <a:srgbClr val="704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662671" y="2834640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✎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52944" y="3227832"/>
            <a:ext cx="548640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704CD7"/>
                </a:solidFill>
                <a:latin typeface="Aptos"/>
              </a:rPr>
              <a:t>Prompt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8156448" y="3145536"/>
            <a:ext cx="219456" cy="0"/>
          </a:xfrm>
          <a:prstGeom prst="line">
            <a:avLst/>
          </a:prstGeom>
          <a:ln w="22860">
            <a:solidFill>
              <a:srgbClr val="704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8375904" y="2724912"/>
            <a:ext cx="658368" cy="841248"/>
          </a:xfrm>
          <a:prstGeom prst="roundRect">
            <a:avLst/>
          </a:prstGeom>
          <a:solidFill>
            <a:srgbClr val="F1ECFF"/>
          </a:solidFill>
          <a:ln w="12700">
            <a:solidFill>
              <a:srgbClr val="DCD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40496" y="2834640"/>
            <a:ext cx="329184" cy="329184"/>
          </a:xfrm>
          <a:prstGeom prst="ellipse">
            <a:avLst/>
          </a:prstGeom>
          <a:solidFill>
            <a:srgbClr val="704CD7"/>
          </a:solidFill>
          <a:ln>
            <a:solidFill>
              <a:srgbClr val="704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540496" y="2834640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◎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30768" y="3227832"/>
            <a:ext cx="548640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704CD7"/>
                </a:solidFill>
                <a:latin typeface="Aptos"/>
              </a:rPr>
              <a:t>Infer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9034272" y="3145536"/>
            <a:ext cx="219456" cy="0"/>
          </a:xfrm>
          <a:prstGeom prst="line">
            <a:avLst/>
          </a:prstGeom>
          <a:ln w="22860">
            <a:solidFill>
              <a:srgbClr val="704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9253728" y="2724912"/>
            <a:ext cx="658368" cy="841248"/>
          </a:xfrm>
          <a:prstGeom prst="roundRect">
            <a:avLst/>
          </a:prstGeom>
          <a:solidFill>
            <a:srgbClr val="F1ECFF"/>
          </a:solidFill>
          <a:ln w="12700">
            <a:solidFill>
              <a:srgbClr val="DCD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418319" y="2834640"/>
            <a:ext cx="329184" cy="329184"/>
          </a:xfrm>
          <a:prstGeom prst="ellipse">
            <a:avLst/>
          </a:prstGeom>
          <a:solidFill>
            <a:srgbClr val="704CD7"/>
          </a:solidFill>
          <a:ln>
            <a:solidFill>
              <a:srgbClr val="704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418319" y="2834640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⚙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308592" y="3227832"/>
            <a:ext cx="548640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704CD7"/>
                </a:solidFill>
                <a:latin typeface="Aptos"/>
              </a:rPr>
              <a:t>Tool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9912096" y="3145536"/>
            <a:ext cx="219456" cy="0"/>
          </a:xfrm>
          <a:prstGeom prst="line">
            <a:avLst/>
          </a:prstGeom>
          <a:ln w="22860">
            <a:solidFill>
              <a:srgbClr val="704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10131552" y="2724912"/>
            <a:ext cx="658368" cy="841248"/>
          </a:xfrm>
          <a:prstGeom prst="roundRect">
            <a:avLst/>
          </a:prstGeom>
          <a:solidFill>
            <a:srgbClr val="F1ECFF"/>
          </a:solidFill>
          <a:ln w="12700">
            <a:solidFill>
              <a:srgbClr val="DCD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296144" y="2834640"/>
            <a:ext cx="329184" cy="329184"/>
          </a:xfrm>
          <a:prstGeom prst="ellipse">
            <a:avLst/>
          </a:prstGeom>
          <a:solidFill>
            <a:srgbClr val="704CD7"/>
          </a:solidFill>
          <a:ln>
            <a:solidFill>
              <a:srgbClr val="704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296144" y="2834640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✦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186416" y="3227832"/>
            <a:ext cx="548640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704CD7"/>
                </a:solidFill>
                <a:latin typeface="Aptos"/>
              </a:rPr>
              <a:t>Answer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498079" y="3840480"/>
            <a:ext cx="3931920" cy="1417320"/>
          </a:xfrm>
          <a:prstGeom prst="roundRect">
            <a:avLst/>
          </a:prstGeom>
          <a:solidFill>
            <a:srgbClr val="F1ECFF"/>
          </a:solidFill>
          <a:ln w="12700">
            <a:solidFill>
              <a:srgbClr val="F1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726679" y="3913632"/>
            <a:ext cx="1554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704CD7"/>
                </a:solidFill>
                <a:latin typeface="Aptos"/>
              </a:rPr>
              <a:t>Strengths</a:t>
            </a:r>
          </a:p>
        </p:txBody>
      </p:sp>
      <p:sp>
        <p:nvSpPr>
          <p:cNvPr id="98" name="Oval 97"/>
          <p:cNvSpPr/>
          <p:nvPr/>
        </p:nvSpPr>
        <p:spPr>
          <a:xfrm>
            <a:off x="7726679" y="4187952"/>
            <a:ext cx="256032" cy="256032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726679" y="418795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704CD7"/>
                </a:solidFill>
                <a:latin typeface="Aptos"/>
              </a:rPr>
              <a:t>✦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4151376"/>
            <a:ext cx="31089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71E2C"/>
                </a:solidFill>
                <a:latin typeface="Aptos"/>
              </a:rPr>
              <a:t>Open-ended questions</a:t>
            </a:r>
          </a:p>
        </p:txBody>
      </p:sp>
      <p:sp>
        <p:nvSpPr>
          <p:cNvPr id="101" name="Oval 100"/>
          <p:cNvSpPr/>
          <p:nvPr/>
        </p:nvSpPr>
        <p:spPr>
          <a:xfrm>
            <a:off x="7726679" y="4462272"/>
            <a:ext cx="256032" cy="256032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726679" y="446227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704CD7"/>
                </a:solidFill>
                <a:latin typeface="Aptos"/>
              </a:rPr>
              <a:t>✦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046720" y="4425696"/>
            <a:ext cx="31089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71E2C"/>
                </a:solidFill>
                <a:latin typeface="Aptos"/>
              </a:rPr>
              <a:t>Ambiguous / conversational requests</a:t>
            </a:r>
          </a:p>
        </p:txBody>
      </p:sp>
      <p:sp>
        <p:nvSpPr>
          <p:cNvPr id="104" name="Oval 103"/>
          <p:cNvSpPr/>
          <p:nvPr/>
        </p:nvSpPr>
        <p:spPr>
          <a:xfrm>
            <a:off x="7726679" y="4736592"/>
            <a:ext cx="256032" cy="256032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726679" y="473659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704CD7"/>
                </a:solidFill>
                <a:latin typeface="Aptos"/>
              </a:rPr>
              <a:t>✦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046720" y="4700016"/>
            <a:ext cx="31089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71E2C"/>
                </a:solidFill>
                <a:latin typeface="Aptos"/>
              </a:rPr>
              <a:t>Narrative summarization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498079" y="5394960"/>
            <a:ext cx="3931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680960" y="5559552"/>
            <a:ext cx="274320" cy="274320"/>
          </a:xfrm>
          <a:prstGeom prst="ellipse">
            <a:avLst/>
          </a:prstGeom>
          <a:solidFill>
            <a:srgbClr val="FBEBEA"/>
          </a:solidFill>
          <a:ln>
            <a:solidFill>
              <a:srgbClr val="FBE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680960" y="5559552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C04542"/>
                </a:solidFill>
                <a:latin typeface="Aptos"/>
              </a:rPr>
              <a:t>!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028431" y="5486400"/>
            <a:ext cx="3200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16C7E"/>
                </a:solidFill>
                <a:latin typeface="Aptos"/>
              </a:rPr>
              <a:t>Compared with heuristic, costs and runtime can scale with usage, prompts and inference.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502920" y="6382512"/>
            <a:ext cx="11201400" cy="310896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EA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31520" y="6400800"/>
            <a:ext cx="10744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213A67"/>
                </a:solidFill>
                <a:latin typeface="Aptos"/>
              </a:rPr>
              <a:t>Design principle: use deterministic rules as the default engine for repeatable RWA work; reserve LLMs for ambiguity and open-ended reasoning.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66928" y="6629400"/>
            <a:ext cx="1097280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80" b="0">
                <a:solidFill>
                  <a:srgbClr val="616C7E"/>
                </a:solidFill>
                <a:latin typeface="Aptos"/>
              </a:rPr>
              <a:t>Conceptual architecture comparison only; not a measured benchmark. Existing data-platform cost and rule maintenance still apply.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